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23468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1142919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93681" y="1142919"/>
            <a:ext cx="4369105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 · APR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30055"/>
            <a:ext cx="16874553" cy="3543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b="1" spc="-525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Monitor.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52468" y="5868577"/>
            <a:ext cx="7484879" cy="204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1B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always-on intelligence layer for international space partnerships — built for the people in the room when those partnerships are made.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468" y="8641903"/>
            <a:ext cx="2365392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468" y="9015878"/>
            <a:ext cx="2365392" cy="356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overview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56039" y="8641903"/>
            <a:ext cx="1333714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56039" y="9015878"/>
            <a:ext cx="1333714" cy="356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201217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 YOU'RE ABOUT TO TAKE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576599"/>
            <a:ext cx="16874553" cy="260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capitals. Forty meetings. One question, every time.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52468" y="7686729"/>
            <a:ext cx="4320175" cy="187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this country actually doing in space — and where can we work together?"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4900" y="7800999"/>
            <a:ext cx="8044949" cy="74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Today the answer lives across an analyst's spreadsheet, last week's news, three PDFs, and someone's memory.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4900" y="8675773"/>
            <a:ext cx="8044949" cy="74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Space Monitor consolidates it into a single briefing, refreshed daily, with sources you can cite in the room.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GIVES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89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products, one database.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468" y="3736182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8" name="Text 6"/>
          <p:cNvSpPr/>
          <p:nvPr/>
        </p:nvSpPr>
        <p:spPr>
          <a:xfrm>
            <a:off x="952468" y="4059948"/>
            <a:ext cx="609569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14378" y="3990693"/>
            <a:ext cx="4088123" cy="41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country briefing on demand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14378" y="4428837"/>
            <a:ext cx="16089787" cy="35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into any meeting with a Claude-written, citation-backed dossier on that country's space activity in the last 90 days.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468" y="4996509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2" name="Text 10"/>
          <p:cNvSpPr/>
          <p:nvPr/>
        </p:nvSpPr>
        <p:spPr>
          <a:xfrm>
            <a:off x="952468" y="5320275"/>
            <a:ext cx="609569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4378" y="5251020"/>
            <a:ext cx="4269797" cy="41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map of every partnership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14378" y="5689164"/>
            <a:ext cx="16089787" cy="35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and multilateral cooperation, sized by count and shaded by strength — clickable down to the source article.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468" y="6256836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6" name="Text 14"/>
          <p:cNvSpPr/>
          <p:nvPr/>
        </p:nvSpPr>
        <p:spPr>
          <a:xfrm>
            <a:off x="952468" y="6580602"/>
            <a:ext cx="609569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14378" y="6511347"/>
            <a:ext cx="3466863" cy="41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watchlist that finds you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14378" y="6949492"/>
            <a:ext cx="16089787" cy="35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a country, an organization, or a partnership type. A weekly digest tells you what changed, with one-click approve / reject links.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468" y="8777490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468" y="7517163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21" name="Text 19"/>
          <p:cNvSpPr/>
          <p:nvPr/>
        </p:nvSpPr>
        <p:spPr>
          <a:xfrm>
            <a:off x="952468" y="7840929"/>
            <a:ext cx="609569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14378" y="7771674"/>
            <a:ext cx="7243910" cy="41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 across seven thousand vetted partnerships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14378" y="8209819"/>
            <a:ext cx="16089787" cy="358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intelligence binder, now queryable — joined to every news article and contract the system has ingested since.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BRIEFING FOR EVERY MEETING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77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700" b="1" spc="-11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command. Ninety days of context.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52468" y="4061030"/>
            <a:ext cx="3491049" cy="2854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dirty="0">
                <a:solidFill>
                  <a:srgbClr val="0E172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Type the country. Get a written briefing synthesized from every article, partnership, contract and leadership change tagged to that country.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468" y="7143945"/>
            <a:ext cx="4189325" cy="1336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Cost-optimized: the same query within the same week is reused for free; older briefings refresh automatically with new sources.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468" y="8975732"/>
            <a:ext cx="2116596" cy="578277"/>
          </a:xfrm>
          <a:prstGeom prst="rect">
            <a:avLst/>
          </a:prstGeom>
          <a:ln w="6925">
            <a:solidFill>
              <a:srgbClr val="C8BE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1754" y="9115973"/>
            <a:ext cx="1447551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35466" y="9115973"/>
            <a:ext cx="35051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2380" y="8975732"/>
            <a:ext cx="2665007" cy="578277"/>
          </a:xfrm>
          <a:prstGeom prst="rect">
            <a:avLst/>
          </a:prstGeom>
          <a:ln w="6925">
            <a:solidFill>
              <a:srgbClr val="C8BE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1666" y="9115973"/>
            <a:ext cx="1995962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33788" y="9115973"/>
            <a:ext cx="35051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00702" y="8975732"/>
            <a:ext cx="2253699" cy="578277"/>
          </a:xfrm>
          <a:prstGeom prst="rect">
            <a:avLst/>
          </a:prstGeom>
          <a:ln w="6925">
            <a:solidFill>
              <a:srgbClr val="C8BE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9988" y="9115973"/>
            <a:ext cx="1721757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7904" y="9115973"/>
            <a:ext cx="21341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4900" y="3772000"/>
            <a:ext cx="7810630" cy="6071147"/>
          </a:xfrm>
          <a:prstGeom prst="roundRect">
            <a:avLst>
              <a:gd name="adj" fmla="val 628"/>
            </a:avLst>
          </a:prstGeom>
          <a:solidFill>
            <a:srgbClr val="0E1726"/>
          </a:solidFill>
          <a:ln/>
          <a:effectLst>
            <a:outerShdw sx="100000" sy="100000" kx="0" ky="0" algn="bl" rotWithShape="0" blurRad="762000" dist="285750" dir="5400000">
              <a:srgbClr val="0E172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982090" y="4191099"/>
            <a:ext cx="104748" cy="104748"/>
          </a:xfrm>
          <a:prstGeom prst="ellipse">
            <a:avLst/>
          </a:prstGeom>
          <a:solidFill>
            <a:srgbClr val="F4EFE6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182062" y="4191099"/>
            <a:ext cx="104748" cy="104748"/>
          </a:xfrm>
          <a:prstGeom prst="ellipse">
            <a:avLst/>
          </a:prstGeom>
          <a:solidFill>
            <a:srgbClr val="F4EFE6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82035" y="4191099"/>
            <a:ext cx="104748" cy="104748"/>
          </a:xfrm>
          <a:prstGeom prst="ellipse">
            <a:avLst/>
          </a:prstGeom>
          <a:solidFill>
            <a:srgbClr val="F4EFE6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82090" y="4600567"/>
            <a:ext cx="7103139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EFE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space-monitor brief India --since-days 90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82090" y="5116514"/>
            <a:ext cx="7103139" cy="43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— Space activity, last 90 days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9982090" y="5686026"/>
            <a:ext cx="7103139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ARTICLES · 11 PARTNERSHIPS · ISRO + IN-SPACE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82090" y="6362991"/>
            <a:ext cx="7103139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DEVELOPMENTS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55407" y="6659055"/>
            <a:ext cx="7099134" cy="1167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NSIL signs commercial launch agreement with European smallsat operator.</a:t>
            </a:r>
            <a:endParaRPr lang="en-US" sz="14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IN-SPACe authorizes two new private launch vehicle programs.</a:t>
            </a:r>
            <a:endParaRPr lang="en-US" sz="14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ISRO confirms Gaganyaan crew rotation and Q3 demonstrator schedule.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982090" y="7998267"/>
            <a:ext cx="7103139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PARTNERSHIPS IN WINDOW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53540" y="8351481"/>
            <a:ext cx="6931689" cy="300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— United States ·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G2G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civil exploration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0153540" y="8728053"/>
            <a:ext cx="6931689" cy="300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— France · B2B · Earth observation joint venture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0153540" y="9104626"/>
            <a:ext cx="6931689" cy="300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4EFE6">
                    <a:alpha val="86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— Australia · G2G · ground station access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631164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WORLD, WATCHING ITSELF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195590"/>
            <a:ext cx="16874553" cy="73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spc="-108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public space partnership, on one map.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52468" y="3199783"/>
            <a:ext cx="8509501" cy="741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9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Bubble size = partnership count. Color depth = average partnership strength under the workbook's scoring rubric.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468" y="4169782"/>
            <a:ext cx="16383062" cy="535522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572540" y="5298092"/>
            <a:ext cx="1142919" cy="11429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14207" y="6707641"/>
            <a:ext cx="6459476" cy="76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800" spc="108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folium world map screenshot ] </a:t>
            </a:r>
            <a:pPr algn="ctr" indent="0" marL="0">
              <a:lnSpc>
                <a:spcPct val="160000"/>
              </a:lnSpc>
              <a:buNone/>
            </a:pPr>
            <a:r>
              <a:rPr lang="en-US" sz="1500" spc="108" kern="0" dirty="0">
                <a:solidFill>
                  <a:srgbClr val="C8BE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drop in once the dashboard is hosted publicly —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49695" y="7820044"/>
            <a:ext cx="5788501" cy="576545"/>
          </a:xfrm>
          <a:prstGeom prst="rect">
            <a:avLst/>
          </a:prstGeom>
          <a:solidFill>
            <a:srgbClr val="F4EFE6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7070" y="7979330"/>
            <a:ext cx="1839814" cy="296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partnerships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82090" y="8007898"/>
            <a:ext cx="666704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72540" y="8007898"/>
            <a:ext cx="2544480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7,614 partnerships in scope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631164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 NEWS TO VETTED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195590"/>
            <a:ext cx="16874553" cy="77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700" b="1" spc="-11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five-stage pipeline, refreshed every day.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952468" y="3429081"/>
            <a:ext cx="3276612" cy="3810847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8" name="Shape 6"/>
          <p:cNvSpPr/>
          <p:nvPr/>
        </p:nvSpPr>
        <p:spPr>
          <a:xfrm>
            <a:off x="952468" y="7233003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9" name="Shape 7"/>
          <p:cNvSpPr/>
          <p:nvPr/>
        </p:nvSpPr>
        <p:spPr>
          <a:xfrm>
            <a:off x="952468" y="3429081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0" name="Shape 8"/>
          <p:cNvSpPr/>
          <p:nvPr/>
        </p:nvSpPr>
        <p:spPr>
          <a:xfrm>
            <a:off x="952468" y="3429081"/>
            <a:ext cx="9525" cy="3810847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1" name="Text 9"/>
          <p:cNvSpPr/>
          <p:nvPr/>
        </p:nvSpPr>
        <p:spPr>
          <a:xfrm>
            <a:off x="1226024" y="3740727"/>
            <a:ext cx="2818518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26024" y="4114702"/>
            <a:ext cx="2818518" cy="3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26024" y="4581414"/>
            <a:ext cx="2818518" cy="179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26 source adapters — RSS feeds, HTML scrapers, Google News searches across 30 queries — sweep agency and trade press in seven languages.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29081" y="3429081"/>
            <a:ext cx="3276612" cy="3810847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29081" y="7233003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6" name="Shape 14"/>
          <p:cNvSpPr/>
          <p:nvPr/>
        </p:nvSpPr>
        <p:spPr>
          <a:xfrm>
            <a:off x="4229081" y="3429081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9081" y="3429081"/>
            <a:ext cx="9525" cy="3810847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8" name="Text 16"/>
          <p:cNvSpPr/>
          <p:nvPr/>
        </p:nvSpPr>
        <p:spPr>
          <a:xfrm>
            <a:off x="4502637" y="3740727"/>
            <a:ext cx="2818518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02637" y="4114702"/>
            <a:ext cx="2818518" cy="3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Prefilter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502637" y="4581414"/>
            <a:ext cx="2818518" cy="179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Cheap LLM classifier triages headlines from noisy sources. Keeps the expensive read off articles that will obviously be skipped.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05693" y="3429081"/>
            <a:ext cx="3276612" cy="3810847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22" name="Shape 20"/>
          <p:cNvSpPr/>
          <p:nvPr/>
        </p:nvSpPr>
        <p:spPr>
          <a:xfrm>
            <a:off x="7505693" y="7233003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23" name="Shape 21"/>
          <p:cNvSpPr/>
          <p:nvPr/>
        </p:nvSpPr>
        <p:spPr>
          <a:xfrm>
            <a:off x="7505693" y="3429081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24" name="Shape 22"/>
          <p:cNvSpPr/>
          <p:nvPr/>
        </p:nvSpPr>
        <p:spPr>
          <a:xfrm>
            <a:off x="7505693" y="3429081"/>
            <a:ext cx="9525" cy="3810847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9249" y="3740727"/>
            <a:ext cx="2818518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9249" y="4114702"/>
            <a:ext cx="2818518" cy="3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&amp; extract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779249" y="4581414"/>
            <a:ext cx="2818518" cy="23849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article is tagged by country, then routed through typed extractors: partnerships, contracts, leadership changes. Cheapest model first (Haiku); on low confidence, escalate to a stronger model (Sonnet).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782306" y="3429081"/>
            <a:ext cx="3276612" cy="3810847"/>
          </a:xfrm>
          <a:prstGeom prst="rect">
            <a:avLst/>
          </a:prstGeom>
          <a:solidFill>
            <a:srgbClr val="EAE3D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2306" y="7233003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2306" y="3429081"/>
            <a:ext cx="327661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2306" y="3429081"/>
            <a:ext cx="9525" cy="3810847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32" name="Text 30"/>
          <p:cNvSpPr/>
          <p:nvPr/>
        </p:nvSpPr>
        <p:spPr>
          <a:xfrm>
            <a:off x="11055861" y="3740727"/>
            <a:ext cx="2818518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055861" y="4114702"/>
            <a:ext cx="2818518" cy="3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1055861" y="4581414"/>
            <a:ext cx="2818518" cy="179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finding becomes a structured draft row — countries, organizations, business model, partnership type, strength score, source URL.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4058917" y="3429081"/>
            <a:ext cx="3276612" cy="3810847"/>
          </a:xfrm>
          <a:prstGeom prst="rect">
            <a:avLst/>
          </a:prstGeom>
          <a:solidFill>
            <a:srgbClr val="0E1726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332474" y="3740727"/>
            <a:ext cx="2811385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4332474" y="4114702"/>
            <a:ext cx="2811385" cy="3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4332474" y="4581414"/>
            <a:ext cx="2811385" cy="179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AE3D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Drafts queue in a web UI — or a digest email with one-click magic-link approve / reject. Nothing reaches the live record without a human signing it.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52468" y="7506559"/>
            <a:ext cx="16383062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40" name="Text 38"/>
          <p:cNvSpPr/>
          <p:nvPr/>
        </p:nvSpPr>
        <p:spPr>
          <a:xfrm>
            <a:off x="952468" y="7742025"/>
            <a:ext cx="4042091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ARTICLE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52468" y="8020775"/>
            <a:ext cx="4042091" cy="400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57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~$0.004</a:t>
            </a:r>
            <a:endParaRPr lang="en-US" sz="2850" dirty="0"/>
          </a:p>
        </p:txBody>
      </p:sp>
      <p:sp>
        <p:nvSpPr>
          <p:cNvPr id="42" name="Text 40"/>
          <p:cNvSpPr/>
          <p:nvPr/>
        </p:nvSpPr>
        <p:spPr>
          <a:xfrm>
            <a:off x="952468" y="8420829"/>
            <a:ext cx="4042091" cy="23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 stages combined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105369" y="7742025"/>
            <a:ext cx="4042091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105369" y="8020775"/>
            <a:ext cx="4042091" cy="400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57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~$1–2</a:t>
            </a:r>
            <a:endParaRPr lang="en-US" sz="2850" dirty="0"/>
          </a:p>
        </p:txBody>
      </p:sp>
      <p:sp>
        <p:nvSpPr>
          <p:cNvPr id="45" name="Text 43"/>
          <p:cNvSpPr/>
          <p:nvPr/>
        </p:nvSpPr>
        <p:spPr>
          <a:xfrm>
            <a:off x="5105369" y="8420829"/>
            <a:ext cx="4042091" cy="23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25 sources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258270" y="7742025"/>
            <a:ext cx="4042091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9258270" y="8020775"/>
            <a:ext cx="4042091" cy="400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5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$30–60</a:t>
            </a:r>
            <a:endParaRPr lang="en-US" sz="2850" dirty="0"/>
          </a:p>
        </p:txBody>
      </p:sp>
      <p:sp>
        <p:nvSpPr>
          <p:cNvPr id="48" name="Text 46"/>
          <p:cNvSpPr/>
          <p:nvPr/>
        </p:nvSpPr>
        <p:spPr>
          <a:xfrm>
            <a:off x="9258270" y="8420829"/>
            <a:ext cx="4042091" cy="23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all-in AI cost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3411170" y="7742025"/>
            <a:ext cx="4042091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CAP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411170" y="8020775"/>
            <a:ext cx="4042091" cy="400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50" b="1" spc="-57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 / mo</a:t>
            </a:r>
            <a:endParaRPr lang="en-US" sz="2850" dirty="0"/>
          </a:p>
        </p:txBody>
      </p:sp>
      <p:sp>
        <p:nvSpPr>
          <p:cNvPr id="51" name="Text 49"/>
          <p:cNvSpPr/>
          <p:nvPr/>
        </p:nvSpPr>
        <p:spPr>
          <a:xfrm>
            <a:off x="13411170" y="8420829"/>
            <a:ext cx="4042091" cy="232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auto-alarm before breach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TODAY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17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working sources, seven languages, six continents.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468" y="4591045"/>
            <a:ext cx="3867225" cy="3269795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6024" y="4864601"/>
            <a:ext cx="3419716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6024" y="5399593"/>
            <a:ext cx="3419716" cy="870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b="1" spc="-276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1226024" y="6621506"/>
            <a:ext cx="3419716" cy="100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news adapters across agencies, trade press, and policy outlets.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124414" y="4591045"/>
            <a:ext cx="3867225" cy="3269795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7970" y="4864601"/>
            <a:ext cx="3419716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7970" y="5399593"/>
            <a:ext cx="3419716" cy="870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b="1" spc="-276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7,614</a:t>
            </a:r>
            <a:endParaRPr lang="en-US" sz="6900" dirty="0"/>
          </a:p>
        </p:txBody>
      </p:sp>
      <p:sp>
        <p:nvSpPr>
          <p:cNvPr id="14" name="Text 12"/>
          <p:cNvSpPr/>
          <p:nvPr/>
        </p:nvSpPr>
        <p:spPr>
          <a:xfrm>
            <a:off x="5397970" y="6621506"/>
            <a:ext cx="3419716" cy="100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Historical bilateral and multilateral partnerships, queryable today.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96359" y="4591045"/>
            <a:ext cx="3867225" cy="3269795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69916" y="4864601"/>
            <a:ext cx="3419716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69916" y="5238576"/>
            <a:ext cx="3419716" cy="870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b="1" spc="-276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900" dirty="0"/>
          </a:p>
        </p:txBody>
      </p:sp>
      <p:sp>
        <p:nvSpPr>
          <p:cNvPr id="18" name="Text 16"/>
          <p:cNvSpPr/>
          <p:nvPr/>
        </p:nvSpPr>
        <p:spPr>
          <a:xfrm>
            <a:off x="9569916" y="6299579"/>
            <a:ext cx="3419716" cy="132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English, French, Italian, Portuguese, Hebrew, Arabic and Spanish — translated in-pipeline.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68305" y="4591045"/>
            <a:ext cx="3867225" cy="3269795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41861" y="4864601"/>
            <a:ext cx="3419716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41861" y="5238576"/>
            <a:ext cx="3419716" cy="870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00" b="1" spc="-276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</a:t>
            </a:r>
            <a:pPr algn="l" indent="0" marL="0">
              <a:lnSpc>
                <a:spcPct val="95000"/>
              </a:lnSpc>
              <a:buNone/>
            </a:pPr>
            <a:r>
              <a:rPr lang="en-US" sz="3600" spc="-27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6900" dirty="0"/>
          </a:p>
        </p:txBody>
      </p:sp>
      <p:sp>
        <p:nvSpPr>
          <p:cNvPr id="22" name="Text 20"/>
          <p:cNvSpPr/>
          <p:nvPr/>
        </p:nvSpPr>
        <p:spPr>
          <a:xfrm>
            <a:off x="13741861" y="6299579"/>
            <a:ext cx="3419716" cy="132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Refreshed every day. Missed days are harmless — the pipeline catches up on its own.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468" y="8089380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REPRESENTATIVE SLICE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468" y="8577626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1754" y="8717867"/>
            <a:ext cx="624719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24198" y="8717867"/>
            <a:ext cx="515102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255700" y="8577626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4986" y="8717867"/>
            <a:ext cx="487616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73731" y="8717867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58933" y="8577626"/>
            <a:ext cx="3170025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8218" y="8717867"/>
            <a:ext cx="624719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77070" y="8717867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862273" y="8577626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21559" y="8717867"/>
            <a:ext cx="487617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580302" y="8717867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165505" y="8577626"/>
            <a:ext cx="3170025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24791" y="8717867"/>
            <a:ext cx="487617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883644" y="8717867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52468" y="9289218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1754" y="9429458"/>
            <a:ext cx="624719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670498" y="9429458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255700" y="9289218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4986" y="9429458"/>
            <a:ext cx="761930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SANSA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73731" y="9429458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558933" y="9289218"/>
            <a:ext cx="3170025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8218" y="9429458"/>
            <a:ext cx="899032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PhilSA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277070" y="9429458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862273" y="9289218"/>
            <a:ext cx="3169917" cy="578277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21559" y="9429458"/>
            <a:ext cx="624719" cy="33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580302" y="9429458"/>
            <a:ext cx="368801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165505" y="9289218"/>
            <a:ext cx="3170025" cy="578277"/>
          </a:xfrm>
          <a:prstGeom prst="rect">
            <a:avLst/>
          </a:prstGeom>
          <a:ln w="6925">
            <a:solidFill>
              <a:srgbClr val="C8BEA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324831" y="9429493"/>
            <a:ext cx="2946475" cy="33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+ 16 more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ANALYST STAYS IN THE LOOP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1747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handles breadth. The analyst owns judgment.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468" y="4743405"/>
            <a:ext cx="7810522" cy="4781603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0295" y="5093141"/>
            <a:ext cx="7245916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· PARTNERSHIP_DRAFT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0295" y="5465385"/>
            <a:ext cx="7245916" cy="422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spc="-27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— France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40295" y="6020830"/>
            <a:ext cx="7245916" cy="825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CNES and ISRO sign joint statement to extend the Trishna Earth-observation mission and explore co-development of a follow-on infrared imager. Working group convenes in Bengaluru in Q3 2026.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340295" y="7055321"/>
            <a:ext cx="7034869" cy="9525"/>
          </a:xfrm>
          <a:prstGeom prst="rect">
            <a:avLst/>
          </a:prstGeom>
          <a:solidFill>
            <a:srgbClr val="C8BEA9"/>
          </a:solidFill>
          <a:ln/>
        </p:spPr>
      </p:sp>
      <p:sp>
        <p:nvSpPr>
          <p:cNvPr id="12" name="Text 10"/>
          <p:cNvSpPr/>
          <p:nvPr/>
        </p:nvSpPr>
        <p:spPr>
          <a:xfrm>
            <a:off x="1340295" y="7233652"/>
            <a:ext cx="464784" cy="22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340295" y="7439685"/>
            <a:ext cx="3515012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G2G cooperation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962423" y="7233652"/>
            <a:ext cx="756195" cy="22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962423" y="7439685"/>
            <a:ext cx="3515123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Observation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40295" y="7803272"/>
            <a:ext cx="1436081" cy="22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340295" y="8009305"/>
            <a:ext cx="3515012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962423" y="7803272"/>
            <a:ext cx="659022" cy="225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962423" y="8009305"/>
            <a:ext cx="3515123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cnes.fr / 14 Apr 2026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40295" y="8430027"/>
            <a:ext cx="7245916" cy="238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AUTO-SCORED STRENGTH · </a:t>
            </a:r>
            <a:pPr algn="l" indent="0" marL="0">
              <a:buNone/>
            </a:pPr>
            <a:r>
              <a:rPr lang="en-US" sz="1200" b="1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/ 5 </a:t>
            </a:r>
            <a:pPr algn="l" indent="0" marL="0">
              <a:buNone/>
            </a:pPr>
            <a:r>
              <a:rPr lang="en-US" sz="12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AWAITING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53441" y="4805734"/>
            <a:ext cx="304740" cy="29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53386" y="4743405"/>
            <a:ext cx="7397608" cy="70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draft surfaces with the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article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side-by-side.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753441" y="5701068"/>
            <a:ext cx="304740" cy="29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53386" y="5638738"/>
            <a:ext cx="7397608" cy="70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is a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of the workbook's rubric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an AI opinion. The analyst can override.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53441" y="6596401"/>
            <a:ext cx="304740" cy="29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53386" y="6534072"/>
            <a:ext cx="7397608" cy="1038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files the draft into the live record under a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traceable ID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Rejection keeps the draft on file with a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753441" y="7825131"/>
            <a:ext cx="304740" cy="29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53386" y="7762801"/>
            <a:ext cx="7397608" cy="70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from a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email link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 transit, between meetings.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753441" y="8720464"/>
            <a:ext cx="304740" cy="294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153386" y="8658134"/>
            <a:ext cx="7397608" cy="704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extraction is a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proposal, never a fact 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Nothing reaches the binder until a human signs it.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COSTS, WHAT IT REPLACES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89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analyst's monthly clipping budget.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468" y="4166319"/>
            <a:ext cx="7526686" cy="4700013"/>
          </a:xfrm>
          <a:prstGeom prst="rect">
            <a:avLst/>
          </a:prstGeom>
          <a:solidFill>
            <a:srgbClr val="EAE3D5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2763" y="4706613"/>
            <a:ext cx="6639480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6B6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RUN-COST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92763" y="5108291"/>
            <a:ext cx="6639480" cy="1123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360" kern="0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$30–60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1492763" y="7038332"/>
            <a:ext cx="6639480" cy="13258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27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All-in: model calls for extraction, country tagging, prefilter, signal routing, weekly briefings. </a:t>
            </a:r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6B65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Hard cap: $200/mo. Daily cost-alarm wired to a webhook.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050614" y="6339725"/>
            <a:ext cx="262971" cy="391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2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808844" y="4166319"/>
            <a:ext cx="7526686" cy="4700013"/>
          </a:xfrm>
          <a:prstGeom prst="rect">
            <a:avLst/>
          </a:prstGeom>
          <a:solidFill>
            <a:srgbClr val="0E1726"/>
          </a:solidFill>
          <a:ln w="6925">
            <a:solidFill>
              <a:srgbClr val="C8BE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49139" y="4706613"/>
            <a:ext cx="6639480" cy="287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F4EFE6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REPLACES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49139" y="5108291"/>
            <a:ext cx="6639480" cy="1123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360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hrs</a:t>
            </a:r>
            <a:pPr algn="l" indent="0" marL="0">
              <a:lnSpc>
                <a:spcPct val="95000"/>
              </a:lnSpc>
              <a:buNone/>
            </a:pPr>
            <a:r>
              <a:rPr lang="en-US" sz="4500" spc="-360" kern="0" dirty="0">
                <a:solidFill>
                  <a:srgbClr val="F4EFE6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wk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10349139" y="7360258"/>
            <a:ext cx="6639480" cy="100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4EFE6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reading, structuring, and entry across the partnership, contract and leadership-change tables — an analyst's primary recurring task today.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68" y="1044231"/>
            <a:ext cx="114270" cy="114270"/>
          </a:xfrm>
          <a:prstGeom prst="ellipse">
            <a:avLst/>
          </a:prstGeom>
          <a:ln/>
          <a:effectLst>
            <a:outerShdw sx="100000" sy="100000" kx="0" ky="0" algn="bl" rotWithShape="0" blurRad="101600" dist="50800" dir="16200000">
              <a:srgbClr val="000000">
                <a:alpha val="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00054" y="952468"/>
            <a:ext cx="239374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MONITOR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311643" y="952468"/>
            <a:ext cx="1100087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4EFE6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468" y="1821723"/>
            <a:ext cx="16874553" cy="335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68" y="2386149"/>
            <a:ext cx="16874553" cy="892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600" b="1" spc="-132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rails, more signals.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52468" y="3888543"/>
            <a:ext cx="5257837" cy="3838333"/>
          </a:xfrm>
          <a:prstGeom prst="rect">
            <a:avLst/>
          </a:prstGeom>
          <a:solidFill>
            <a:srgbClr val="F4EFE6">
              <a:alpha val="4000"/>
            </a:srgbClr>
          </a:solidFill>
          <a:ln w="6925">
            <a:solidFill>
              <a:srgbClr val="F4EFE6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2205" y="4238279"/>
            <a:ext cx="4695116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02205" y="4650344"/>
            <a:ext cx="4695116" cy="778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SIPRI defense-spending connector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02205" y="5581387"/>
            <a:ext cx="4695116" cy="930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F4EFE6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defense and civil-space budgets refreshed automatically — one less spreadsheet to maintain by hand.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15026" y="3888543"/>
            <a:ext cx="5257837" cy="3838333"/>
          </a:xfrm>
          <a:prstGeom prst="rect">
            <a:avLst/>
          </a:prstGeom>
          <a:solidFill>
            <a:srgbClr val="F4EFE6">
              <a:alpha val="4000"/>
            </a:srgbClr>
          </a:solidFill>
          <a:ln w="6925">
            <a:solidFill>
              <a:srgbClr val="F4EFE6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4762" y="4238279"/>
            <a:ext cx="4695116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64762" y="4650344"/>
            <a:ext cx="4695116" cy="408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 satellite database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64762" y="5211091"/>
            <a:ext cx="4695116" cy="930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F4EFE6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spacecraft on orbit, attributed by country and operator, joined to the partnership and contract record.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077585" y="3888543"/>
            <a:ext cx="5257837" cy="3838333"/>
          </a:xfrm>
          <a:prstGeom prst="rect">
            <a:avLst/>
          </a:prstGeom>
          <a:solidFill>
            <a:srgbClr val="F4EFE6">
              <a:alpha val="4000"/>
            </a:srgbClr>
          </a:solidFill>
          <a:ln w="6925">
            <a:solidFill>
              <a:srgbClr val="F4EFE6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27321" y="4238279"/>
            <a:ext cx="4695116" cy="25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YEAR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427321" y="4650344"/>
            <a:ext cx="4695116" cy="408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Investment-outlook dossiers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427321" y="5211091"/>
            <a:ext cx="4695116" cy="1228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F4EFE6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every (country × mission) cell the analyst reviews, an auto-built evidence pack — assets, programs, partnerships, and recent news, ready for narrative.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468" y="8298335"/>
            <a:ext cx="9290924" cy="1264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spc="-63" kern="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once. Refreshes every day. </a:t>
            </a:r>
            <a:pPr algn="l" indent="0" marL="0">
              <a:lnSpc>
                <a:spcPct val="115000"/>
              </a:lnSpc>
              <a:buNone/>
            </a:pPr>
            <a:r>
              <a:rPr lang="en-US" sz="4200" spc="-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into the room with you.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2026-04-29T02:00:46Z</dcterms:created>
  <dcterms:modified xsi:type="dcterms:W3CDTF">2026-04-29T02:00:46Z</dcterms:modified>
</cp:coreProperties>
</file>